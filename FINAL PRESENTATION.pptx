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8" r:id="rId3"/>
    <p:sldId id="294" r:id="rId4"/>
    <p:sldId id="302" r:id="rId5"/>
    <p:sldId id="261" r:id="rId6"/>
    <p:sldId id="303" r:id="rId7"/>
    <p:sldId id="263" r:id="rId8"/>
    <p:sldId id="264" r:id="rId9"/>
    <p:sldId id="265" r:id="rId10"/>
    <p:sldId id="266" r:id="rId11"/>
    <p:sldId id="304" r:id="rId12"/>
  </p:sldIdLst>
  <p:sldSz cx="12192000" cy="6858000"/>
  <p:notesSz cx="6858000" cy="9144000"/>
  <p:defaultTextStyle>
    <a:defPPr lvl="0">
      <a:defRPr lang="en-MA"/>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313" autoAdjust="0"/>
  </p:normalViewPr>
  <p:slideViewPr>
    <p:cSldViewPr snapToGrid="0">
      <p:cViewPr>
        <p:scale>
          <a:sx n="100" d="100"/>
          <a:sy n="100" d="100"/>
        </p:scale>
        <p:origin x="58"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4A0016-3BD4-4E69-BDC3-209CF12C9556}" type="datetimeFigureOut">
              <a:rPr lang="en-IN" smtClean="0"/>
              <a:t>07-08-2026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B6E82-8EBA-457A-8E16-C683C0131C88}" type="slidenum">
              <a:rPr lang="en-IN" smtClean="0"/>
              <a:t>‹#›</a:t>
            </a:fld>
            <a:endParaRPr lang="en-IN"/>
          </a:p>
        </p:txBody>
      </p:sp>
    </p:spTree>
    <p:extLst>
      <p:ext uri="{BB962C8B-B14F-4D97-AF65-F5344CB8AC3E}">
        <p14:creationId xmlns:p14="http://schemas.microsoft.com/office/powerpoint/2010/main" val="3551550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Digital banking, e-commerce and contactless payments have increased the number and speed of financial transactions. This growth has also increased opportunities for credit card fraud. Manual monitoring is not suitable for very large transaction datasets, while fixed rules may become less effective when fraud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changes. Machine learning offers a data-driven method for identifying unusual and hidden transaction patterns. The current project therefore investigates how supervised machine-learning algorithms can support reliable fraud detection using an </a:t>
            </a:r>
            <a:r>
              <a:rPr lang="en-US" sz="1200" kern="1200" dirty="0" err="1">
                <a:solidFill>
                  <a:schemeClr val="tx1"/>
                </a:solidFill>
                <a:effectLst/>
                <a:latin typeface="+mn-lt"/>
                <a:ea typeface="+mn-ea"/>
                <a:cs typeface="+mn-cs"/>
              </a:rPr>
              <a:t>anonymised</a:t>
            </a:r>
            <a:r>
              <a:rPr lang="en-US" sz="1200" kern="1200" dirty="0">
                <a:solidFill>
                  <a:schemeClr val="tx1"/>
                </a:solidFill>
                <a:effectLst/>
                <a:latin typeface="+mn-lt"/>
                <a:ea typeface="+mn-ea"/>
                <a:cs typeface="+mn-cs"/>
              </a:rPr>
              <a:t> credit card transaction dataset.</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3</a:t>
            </a:fld>
            <a:endParaRPr lang="en-IN"/>
          </a:p>
        </p:txBody>
      </p:sp>
    </p:spTree>
    <p:extLst>
      <p:ext uri="{BB962C8B-B14F-4D97-AF65-F5344CB8AC3E}">
        <p14:creationId xmlns:p14="http://schemas.microsoft.com/office/powerpoint/2010/main" val="3952128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project tackles the challenge of detecting rarely occurring and evolving credit card fraud patterns. The issue arises when banks and payment service providers perform real-time processing of high volume types of card transactions, like online or contactless payments. It impacts financial institutions, merchants, and cardholders, as it can lead to financial losses if fraud goes undetected and disrupt legitimate transactions if it is a false alarm. Also, the Manual investigation is very slow and costly. But with severe class imbalance, it can have a low model which correctly predicts high accuracy and fail to predict fraud. This problem is significant to reduce the loss, investigation cost, and customer's inconvenience. </a:t>
            </a:r>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4</a:t>
            </a:fld>
            <a:endParaRPr lang="en-IN"/>
          </a:p>
        </p:txBody>
      </p:sp>
    </p:spTree>
    <p:extLst>
      <p:ext uri="{BB962C8B-B14F-4D97-AF65-F5344CB8AC3E}">
        <p14:creationId xmlns:p14="http://schemas.microsoft.com/office/powerpoint/2010/main" val="1019456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aims to develop and compare supervised machine-learning models for credit card fraud detection. These objectives provide a clear route from raw transaction data to an evidence-based recommendation, without claiming model performance before the experimental stage has been completed.</a:t>
            </a:r>
            <a:endParaRPr lang="en-IN" sz="1100" dirty="0"/>
          </a:p>
          <a:p>
            <a:endParaRPr lang="en-IN" dirty="0"/>
          </a:p>
          <a:p>
            <a:endParaRPr lang="en-IN" dirty="0"/>
          </a:p>
        </p:txBody>
      </p:sp>
      <p:sp>
        <p:nvSpPr>
          <p:cNvPr id="4" name="Slide Number Placeholder 3"/>
          <p:cNvSpPr>
            <a:spLocks noGrp="1"/>
          </p:cNvSpPr>
          <p:nvPr>
            <p:ph type="sldNum" sz="quarter" idx="5"/>
          </p:nvPr>
        </p:nvSpPr>
        <p:spPr/>
        <p:txBody>
          <a:bodyPr/>
          <a:lstStyle/>
          <a:p>
            <a:fld id="{ED0B6E82-8EBA-457A-8E16-C683C0131C88}" type="slidenum">
              <a:rPr lang="en-IN" smtClean="0"/>
              <a:t>5</a:t>
            </a:fld>
            <a:endParaRPr lang="en-IN"/>
          </a:p>
        </p:txBody>
      </p:sp>
    </p:spTree>
    <p:extLst>
      <p:ext uri="{BB962C8B-B14F-4D97-AF65-F5344CB8AC3E}">
        <p14:creationId xmlns:p14="http://schemas.microsoft.com/office/powerpoint/2010/main" val="1571266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objectives will be met by a quantitative experimental design with a secondary </a:t>
            </a:r>
            <a:r>
              <a:rPr lang="en-US" sz="1200" kern="1200" dirty="0" err="1">
                <a:solidFill>
                  <a:schemeClr val="tx1"/>
                </a:solidFill>
                <a:effectLst/>
                <a:latin typeface="+mn-lt"/>
                <a:ea typeface="+mn-ea"/>
                <a:cs typeface="+mn-cs"/>
              </a:rPr>
              <a:t>anonymised</a:t>
            </a:r>
            <a:r>
              <a:rPr lang="en-US" sz="1200" kern="1200" dirty="0">
                <a:solidFill>
                  <a:schemeClr val="tx1"/>
                </a:solidFill>
                <a:effectLst/>
                <a:latin typeface="+mn-lt"/>
                <a:ea typeface="+mn-ea"/>
                <a:cs typeface="+mn-cs"/>
              </a:rPr>
              <a:t> dataset. Python and </a:t>
            </a:r>
            <a:r>
              <a:rPr lang="en-US" sz="1200" kern="1200" dirty="0" err="1">
                <a:solidFill>
                  <a:schemeClr val="tx1"/>
                </a:solidFill>
                <a:effectLst/>
                <a:latin typeface="+mn-lt"/>
                <a:ea typeface="+mn-ea"/>
                <a:cs typeface="+mn-cs"/>
              </a:rPr>
              <a:t>Jupyter</a:t>
            </a:r>
            <a:r>
              <a:rPr lang="en-US" sz="1200" kern="1200" dirty="0">
                <a:solidFill>
                  <a:schemeClr val="tx1"/>
                </a:solidFill>
                <a:effectLst/>
                <a:latin typeface="+mn-lt"/>
                <a:ea typeface="+mn-ea"/>
                <a:cs typeface="+mn-cs"/>
              </a:rPr>
              <a:t> are chosen to ensure a reproducible environment, Pandas and </a:t>
            </a:r>
            <a:r>
              <a:rPr lang="en-US" sz="1200" kern="1200" dirty="0" err="1">
                <a:solidFill>
                  <a:schemeClr val="tx1"/>
                </a:solidFill>
                <a:effectLst/>
                <a:latin typeface="+mn-lt"/>
                <a:ea typeface="+mn-ea"/>
                <a:cs typeface="+mn-cs"/>
              </a:rPr>
              <a:t>NumPy</a:t>
            </a:r>
            <a:r>
              <a:rPr lang="en-US" sz="1200" kern="1200" dirty="0">
                <a:solidFill>
                  <a:schemeClr val="tx1"/>
                </a:solidFill>
                <a:effectLst/>
                <a:latin typeface="+mn-lt"/>
                <a:ea typeface="+mn-ea"/>
                <a:cs typeface="+mn-cs"/>
              </a:rPr>
              <a:t> for efficient data handling, and </a:t>
            </a:r>
            <a:r>
              <a:rPr lang="en-US" sz="1200" kern="1200" dirty="0" err="1">
                <a:solidFill>
                  <a:schemeClr val="tx1"/>
                </a:solidFill>
                <a:effectLst/>
                <a:latin typeface="+mn-lt"/>
                <a:ea typeface="+mn-ea"/>
                <a:cs typeface="+mn-cs"/>
              </a:rPr>
              <a:t>Matplotlib</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Seaborn</a:t>
            </a:r>
            <a:r>
              <a:rPr lang="en-US" sz="1200" kern="1200" dirty="0">
                <a:solidFill>
                  <a:schemeClr val="tx1"/>
                </a:solidFill>
                <a:effectLst/>
                <a:latin typeface="+mn-lt"/>
                <a:ea typeface="+mn-ea"/>
                <a:cs typeface="+mn-cs"/>
              </a:rPr>
              <a:t> for visual analysis of data. Completed Phase includes Quality Check and Exploration. The next step will be to scale appropriate variables, choose predictors and then split the data in a stratified 80:20 to ensure that the rare fraud class remains. Five algorithms are chosen for comparison, i.e., four interpretable, tree-based and one boosting. This is better than using a single algorithm as it allows a better comparison since it is done under the same conditions.</a:t>
            </a:r>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6</a:t>
            </a:fld>
            <a:endParaRPr lang="en-IN"/>
          </a:p>
        </p:txBody>
      </p:sp>
    </p:spTree>
    <p:extLst>
      <p:ext uri="{BB962C8B-B14F-4D97-AF65-F5344CB8AC3E}">
        <p14:creationId xmlns:p14="http://schemas.microsoft.com/office/powerpoint/2010/main" val="1292703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completed work includes proposal development, the literature review, dataset selection, research methodology, data-quality checks and exploratory </a:t>
            </a:r>
            <a:r>
              <a:rPr lang="en-US" sz="1200" kern="1200" dirty="0" err="1">
                <a:solidFill>
                  <a:schemeClr val="tx1"/>
                </a:solidFill>
                <a:effectLst/>
                <a:latin typeface="+mn-lt"/>
                <a:ea typeface="+mn-ea"/>
                <a:cs typeface="+mn-cs"/>
              </a:rPr>
              <a:t>visualisation</a:t>
            </a:r>
            <a:r>
              <a:rPr lang="en-US" sz="1200" kern="1200" dirty="0">
                <a:solidFill>
                  <a:schemeClr val="tx1"/>
                </a:solidFill>
                <a:effectLst/>
                <a:latin typeface="+mn-lt"/>
                <a:ea typeface="+mn-ea"/>
                <a:cs typeface="+mn-cs"/>
              </a:rPr>
              <a:t>. This is about half of the proposed project. Now it is the preprocessing and preparation of data for the model implementation. Training the model is still pending. The following works will be carried out model training, tuning, model evaluation, comparative results analysis, discussion and completion of the final report. These activities are represented in the Gantt chart below for the span of 8 weeks. </a:t>
            </a:r>
            <a:endParaRPr lang="en-IN" sz="1200" kern="1200" dirty="0">
              <a:solidFill>
                <a:schemeClr val="tx1"/>
              </a:solidFill>
              <a:effectLst/>
              <a:latin typeface="+mn-lt"/>
              <a:ea typeface="+mn-ea"/>
              <a:cs typeface="+mn-cs"/>
            </a:endParaRPr>
          </a:p>
          <a:p>
            <a:endParaRPr lang="en-IN" dirty="0"/>
          </a:p>
          <a:p>
            <a:endParaRPr lang="en-IN" dirty="0"/>
          </a:p>
        </p:txBody>
      </p:sp>
      <p:sp>
        <p:nvSpPr>
          <p:cNvPr id="4" name="Slide Number Placeholder 3"/>
          <p:cNvSpPr>
            <a:spLocks noGrp="1"/>
          </p:cNvSpPr>
          <p:nvPr>
            <p:ph type="sldNum" sz="quarter" idx="5"/>
          </p:nvPr>
        </p:nvSpPr>
        <p:spPr/>
        <p:txBody>
          <a:bodyPr/>
          <a:lstStyle/>
          <a:p>
            <a:fld id="{ED0B6E82-8EBA-457A-8E16-C683C0131C88}" type="slidenum">
              <a:rPr lang="en-IN" smtClean="0"/>
              <a:t>7</a:t>
            </a:fld>
            <a:endParaRPr lang="en-IN"/>
          </a:p>
        </p:txBody>
      </p:sp>
    </p:spTree>
    <p:extLst>
      <p:ext uri="{BB962C8B-B14F-4D97-AF65-F5344CB8AC3E}">
        <p14:creationId xmlns:p14="http://schemas.microsoft.com/office/powerpoint/2010/main" val="1103346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Speaker note- </a:t>
            </a:r>
            <a:r>
              <a:rPr lang="en-IN" dirty="0"/>
              <a:t>This chapter reviews existing research on credit card fraud detection using machine learning. It highlights key challenges including class imbalance, evolving fraud patterns and data preprocessing requirements. The review compares traditional and advanced algorithms, showing that ensemble methods generally provide better performance than rule-based approaches. It also justifies the selected technologies, including Python, Jupyter Notebook and Scikit-learn, as reliable tools for implementing, evaluating and comparing fraud detection models in a reproducible environment.</a:t>
            </a:r>
          </a:p>
          <a:p>
            <a:endParaRPr lang="en-IN" dirty="0"/>
          </a:p>
        </p:txBody>
      </p:sp>
      <p:sp>
        <p:nvSpPr>
          <p:cNvPr id="4" name="Slide Number Placeholder 3"/>
          <p:cNvSpPr>
            <a:spLocks noGrp="1"/>
          </p:cNvSpPr>
          <p:nvPr>
            <p:ph type="sldNum" sz="quarter" idx="5"/>
          </p:nvPr>
        </p:nvSpPr>
        <p:spPr/>
        <p:txBody>
          <a:bodyPr/>
          <a:lstStyle/>
          <a:p>
            <a:fld id="{ED0B6E82-8EBA-457A-8E16-C683C0131C88}" type="slidenum">
              <a:rPr lang="en-IN" smtClean="0"/>
              <a:t>8</a:t>
            </a:fld>
            <a:endParaRPr lang="en-IN"/>
          </a:p>
        </p:txBody>
      </p:sp>
    </p:spTree>
    <p:extLst>
      <p:ext uri="{BB962C8B-B14F-4D97-AF65-F5344CB8AC3E}">
        <p14:creationId xmlns:p14="http://schemas.microsoft.com/office/powerpoint/2010/main" val="4062090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a:t>
            </a:r>
            <a:r>
              <a:rPr lang="en-IN" dirty="0"/>
              <a:t>This research contributes by developing a comprehensive machine learning framework for credit card fraud detection. It integrates preprocessing techniques, including SMOTE, to improve data quality and handle class imbalance. Multiple machine learning algorithms are compared under identical conditions to ensure a fair evaluation. Performance is assessed using several evaluation metrics instead of relying only on accuracy. Finally, the study identifies the most reliable and effective model for detecting fraudulent credit card transactions.</a:t>
            </a:r>
          </a:p>
        </p:txBody>
      </p:sp>
      <p:sp>
        <p:nvSpPr>
          <p:cNvPr id="4" name="Slide Number Placeholder 3"/>
          <p:cNvSpPr>
            <a:spLocks noGrp="1"/>
          </p:cNvSpPr>
          <p:nvPr>
            <p:ph type="sldNum" sz="quarter" idx="5"/>
          </p:nvPr>
        </p:nvSpPr>
        <p:spPr/>
        <p:txBody>
          <a:bodyPr/>
          <a:lstStyle/>
          <a:p>
            <a:fld id="{ED0B6E82-8EBA-457A-8E16-C683C0131C88}" type="slidenum">
              <a:rPr lang="en-IN" smtClean="0"/>
              <a:t>9</a:t>
            </a:fld>
            <a:endParaRPr lang="en-IN"/>
          </a:p>
        </p:txBody>
      </p:sp>
    </p:spTree>
    <p:extLst>
      <p:ext uri="{BB962C8B-B14F-4D97-AF65-F5344CB8AC3E}">
        <p14:creationId xmlns:p14="http://schemas.microsoft.com/office/powerpoint/2010/main" val="3769437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dirty="0"/>
            </a:br>
            <a:endParaRPr lang="en-IN" dirty="0"/>
          </a:p>
          <a:p>
            <a:r>
              <a:rPr lang="en-IN" b="1" dirty="0"/>
              <a:t>Speaker Notes :</a:t>
            </a:r>
          </a:p>
          <a:p>
            <a:r>
              <a:rPr lang="en-IN" dirty="0"/>
              <a:t>This project successfully achieved its objective of developing a machine learning-based credit card fraud detection system. Different classification algorithms were compared after applying effective preprocessing techniques, including feature scaling and SMOTE, to improve prediction performance. The models were evaluated using multiple performance metrics to ensure reliable results. The findings demonstrate that machine learning can effectively detect fraudulent transactions. In the future, the system can be enhanced with real-time detection, deep learning techniques, explainable AI, and larger real-world datasets.</a:t>
            </a:r>
          </a:p>
          <a:p>
            <a:endParaRPr lang="en-IN" dirty="0"/>
          </a:p>
        </p:txBody>
      </p:sp>
      <p:sp>
        <p:nvSpPr>
          <p:cNvPr id="4" name="Slide Number Placeholder 3"/>
          <p:cNvSpPr>
            <a:spLocks noGrp="1"/>
          </p:cNvSpPr>
          <p:nvPr>
            <p:ph type="sldNum" sz="quarter" idx="5"/>
          </p:nvPr>
        </p:nvSpPr>
        <p:spPr/>
        <p:txBody>
          <a:bodyPr/>
          <a:lstStyle/>
          <a:p>
            <a:fld id="{ED0B6E82-8EBA-457A-8E16-C683C0131C88}" type="slidenum">
              <a:rPr lang="en-IN" smtClean="0"/>
              <a:t>10</a:t>
            </a:fld>
            <a:endParaRPr lang="en-IN"/>
          </a:p>
        </p:txBody>
      </p:sp>
    </p:spTree>
    <p:extLst>
      <p:ext uri="{BB962C8B-B14F-4D97-AF65-F5344CB8AC3E}">
        <p14:creationId xmlns:p14="http://schemas.microsoft.com/office/powerpoint/2010/main" val="308673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6146E-025B-7B6A-DD6E-14DD042D19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A"/>
          </a:p>
        </p:txBody>
      </p:sp>
      <p:sp>
        <p:nvSpPr>
          <p:cNvPr id="3" name="Subtitle 2">
            <a:extLst>
              <a:ext uri="{FF2B5EF4-FFF2-40B4-BE49-F238E27FC236}">
                <a16:creationId xmlns:a16="http://schemas.microsoft.com/office/drawing/2014/main" id="{7429D579-2CE0-D7F5-DD9A-4566A61A24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A"/>
          </a:p>
        </p:txBody>
      </p:sp>
      <p:sp>
        <p:nvSpPr>
          <p:cNvPr id="4" name="Date Placeholder 3">
            <a:extLst>
              <a:ext uri="{FF2B5EF4-FFF2-40B4-BE49-F238E27FC236}">
                <a16:creationId xmlns:a16="http://schemas.microsoft.com/office/drawing/2014/main" id="{5D31848B-773D-8D54-2B68-9FB62535111A}"/>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5" name="Footer Placeholder 4">
            <a:extLst>
              <a:ext uri="{FF2B5EF4-FFF2-40B4-BE49-F238E27FC236}">
                <a16:creationId xmlns:a16="http://schemas.microsoft.com/office/drawing/2014/main" id="{14F6E86B-B30F-E8B6-CBBF-0AA3C9DADF10}"/>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A5D8DB1B-393D-60ED-A15E-16945887F557}"/>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975303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21D8-26C6-8B2E-115A-51E08C1E743B}"/>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390F334F-FE54-151D-8597-0467C40DF7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2E4A9ECA-08F1-8A31-74A1-FB1E430C6642}"/>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5" name="Footer Placeholder 4">
            <a:extLst>
              <a:ext uri="{FF2B5EF4-FFF2-40B4-BE49-F238E27FC236}">
                <a16:creationId xmlns:a16="http://schemas.microsoft.com/office/drawing/2014/main" id="{D63B5726-E711-1E74-F908-5D162A3759CB}"/>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C7939161-18A9-7D99-4AA5-1128CB3F43AA}"/>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89833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3DE43-7D37-7653-C06C-B9D03E1FAD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A"/>
          </a:p>
        </p:txBody>
      </p:sp>
      <p:sp>
        <p:nvSpPr>
          <p:cNvPr id="3" name="Text Placeholder 2">
            <a:extLst>
              <a:ext uri="{FF2B5EF4-FFF2-40B4-BE49-F238E27FC236}">
                <a16:creationId xmlns:a16="http://schemas.microsoft.com/office/drawing/2014/main" id="{F4C5DC3B-1351-DF08-A8AD-9E6AB5E006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D8DA74-EA74-55DA-B4D2-59DC979772F1}"/>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5" name="Footer Placeholder 4">
            <a:extLst>
              <a:ext uri="{FF2B5EF4-FFF2-40B4-BE49-F238E27FC236}">
                <a16:creationId xmlns:a16="http://schemas.microsoft.com/office/drawing/2014/main" id="{F21B7FD0-7FE3-F9A2-A9E4-10E0430C39CA}"/>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B82691C0-755D-C26B-C3AF-FFAC22790153}"/>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738178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DF1B-ADB6-92B0-EF70-062EB5EBFCE2}"/>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92024E5E-1580-1937-361A-221D550C2B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Content Placeholder 3">
            <a:extLst>
              <a:ext uri="{FF2B5EF4-FFF2-40B4-BE49-F238E27FC236}">
                <a16:creationId xmlns:a16="http://schemas.microsoft.com/office/drawing/2014/main" id="{490DB68E-FA91-8367-6D31-EA7CFA28F9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Date Placeholder 4">
            <a:extLst>
              <a:ext uri="{FF2B5EF4-FFF2-40B4-BE49-F238E27FC236}">
                <a16:creationId xmlns:a16="http://schemas.microsoft.com/office/drawing/2014/main" id="{1E2A4637-E2F9-461A-FA9B-AD9CB35732A1}"/>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6" name="Footer Placeholder 5">
            <a:extLst>
              <a:ext uri="{FF2B5EF4-FFF2-40B4-BE49-F238E27FC236}">
                <a16:creationId xmlns:a16="http://schemas.microsoft.com/office/drawing/2014/main" id="{AD609860-27E2-9809-EF8C-4AE193AEC5CD}"/>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D7DBDDD3-1D7C-C58F-499B-E0E581C0CB2F}"/>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330167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4ED02-82BE-2C58-0458-741FBBF90CE3}"/>
              </a:ext>
            </a:extLst>
          </p:cNvPr>
          <p:cNvSpPr>
            <a:spLocks noGrp="1"/>
          </p:cNvSpPr>
          <p:nvPr>
            <p:ph type="title"/>
          </p:nvPr>
        </p:nvSpPr>
        <p:spPr>
          <a:xfrm>
            <a:off x="839788" y="365125"/>
            <a:ext cx="10515600" cy="1325563"/>
          </a:xfrm>
        </p:spPr>
        <p:txBody>
          <a:bodyPr/>
          <a:lstStyle/>
          <a:p>
            <a:r>
              <a:rPr lang="en-US"/>
              <a:t>Click to edit Master title style</a:t>
            </a:r>
            <a:endParaRPr lang="en-MA"/>
          </a:p>
        </p:txBody>
      </p:sp>
      <p:sp>
        <p:nvSpPr>
          <p:cNvPr id="3" name="Text Placeholder 2">
            <a:extLst>
              <a:ext uri="{FF2B5EF4-FFF2-40B4-BE49-F238E27FC236}">
                <a16:creationId xmlns:a16="http://schemas.microsoft.com/office/drawing/2014/main" id="{31957A7A-4BA1-4042-BACC-77085BEBA9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3CEF58-8BD3-D6FF-17F3-AAE53A8681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Text Placeholder 4">
            <a:extLst>
              <a:ext uri="{FF2B5EF4-FFF2-40B4-BE49-F238E27FC236}">
                <a16:creationId xmlns:a16="http://schemas.microsoft.com/office/drawing/2014/main" id="{54397340-9005-57A1-807C-2D0A22B149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F13E69-E6D7-7A4A-0C61-B9EFD313D4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7" name="Date Placeholder 6">
            <a:extLst>
              <a:ext uri="{FF2B5EF4-FFF2-40B4-BE49-F238E27FC236}">
                <a16:creationId xmlns:a16="http://schemas.microsoft.com/office/drawing/2014/main" id="{8ECAF452-14D5-268B-6BAF-45CEB52DD9B7}"/>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8" name="Footer Placeholder 7">
            <a:extLst>
              <a:ext uri="{FF2B5EF4-FFF2-40B4-BE49-F238E27FC236}">
                <a16:creationId xmlns:a16="http://schemas.microsoft.com/office/drawing/2014/main" id="{F36E0D52-BE96-604D-4457-BDF3DE0C4578}"/>
              </a:ext>
            </a:extLst>
          </p:cNvPr>
          <p:cNvSpPr>
            <a:spLocks noGrp="1"/>
          </p:cNvSpPr>
          <p:nvPr>
            <p:ph type="ftr" sz="quarter" idx="11"/>
          </p:nvPr>
        </p:nvSpPr>
        <p:spPr/>
        <p:txBody>
          <a:bodyPr/>
          <a:lstStyle/>
          <a:p>
            <a:endParaRPr lang="en-MA"/>
          </a:p>
        </p:txBody>
      </p:sp>
      <p:sp>
        <p:nvSpPr>
          <p:cNvPr id="9" name="Slide Number Placeholder 8">
            <a:extLst>
              <a:ext uri="{FF2B5EF4-FFF2-40B4-BE49-F238E27FC236}">
                <a16:creationId xmlns:a16="http://schemas.microsoft.com/office/drawing/2014/main" id="{94F283A5-9EE4-2BC1-9878-A58B113B9281}"/>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555607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E8EA0-EB41-5852-F2CB-450D5594567C}"/>
              </a:ext>
            </a:extLst>
          </p:cNvPr>
          <p:cNvSpPr>
            <a:spLocks noGrp="1"/>
          </p:cNvSpPr>
          <p:nvPr>
            <p:ph type="title"/>
          </p:nvPr>
        </p:nvSpPr>
        <p:spPr/>
        <p:txBody>
          <a:bodyPr/>
          <a:lstStyle/>
          <a:p>
            <a:r>
              <a:rPr lang="en-US"/>
              <a:t>Click to edit Master title style</a:t>
            </a:r>
            <a:endParaRPr lang="en-MA"/>
          </a:p>
        </p:txBody>
      </p:sp>
      <p:sp>
        <p:nvSpPr>
          <p:cNvPr id="3" name="Date Placeholder 2">
            <a:extLst>
              <a:ext uri="{FF2B5EF4-FFF2-40B4-BE49-F238E27FC236}">
                <a16:creationId xmlns:a16="http://schemas.microsoft.com/office/drawing/2014/main" id="{34FA2628-E1A6-3B41-7002-4D841C63AD41}"/>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4" name="Footer Placeholder 3">
            <a:extLst>
              <a:ext uri="{FF2B5EF4-FFF2-40B4-BE49-F238E27FC236}">
                <a16:creationId xmlns:a16="http://schemas.microsoft.com/office/drawing/2014/main" id="{03B96072-6399-AE6D-1858-B423A9214633}"/>
              </a:ext>
            </a:extLst>
          </p:cNvPr>
          <p:cNvSpPr>
            <a:spLocks noGrp="1"/>
          </p:cNvSpPr>
          <p:nvPr>
            <p:ph type="ftr" sz="quarter" idx="11"/>
          </p:nvPr>
        </p:nvSpPr>
        <p:spPr/>
        <p:txBody>
          <a:bodyPr/>
          <a:lstStyle/>
          <a:p>
            <a:endParaRPr lang="en-MA"/>
          </a:p>
        </p:txBody>
      </p:sp>
      <p:sp>
        <p:nvSpPr>
          <p:cNvPr id="5" name="Slide Number Placeholder 4">
            <a:extLst>
              <a:ext uri="{FF2B5EF4-FFF2-40B4-BE49-F238E27FC236}">
                <a16:creationId xmlns:a16="http://schemas.microsoft.com/office/drawing/2014/main" id="{639C3BC3-F868-3845-0742-5D30E95EC110}"/>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211776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11AE74-01F2-AD67-9421-1758589CAF2E}"/>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3" name="Footer Placeholder 2">
            <a:extLst>
              <a:ext uri="{FF2B5EF4-FFF2-40B4-BE49-F238E27FC236}">
                <a16:creationId xmlns:a16="http://schemas.microsoft.com/office/drawing/2014/main" id="{B29A62D4-1958-456C-B424-1862633C272A}"/>
              </a:ext>
            </a:extLst>
          </p:cNvPr>
          <p:cNvSpPr>
            <a:spLocks noGrp="1"/>
          </p:cNvSpPr>
          <p:nvPr>
            <p:ph type="ftr" sz="quarter" idx="11"/>
          </p:nvPr>
        </p:nvSpPr>
        <p:spPr/>
        <p:txBody>
          <a:bodyPr/>
          <a:lstStyle/>
          <a:p>
            <a:endParaRPr lang="en-MA"/>
          </a:p>
        </p:txBody>
      </p:sp>
      <p:sp>
        <p:nvSpPr>
          <p:cNvPr id="4" name="Slide Number Placeholder 3">
            <a:extLst>
              <a:ext uri="{FF2B5EF4-FFF2-40B4-BE49-F238E27FC236}">
                <a16:creationId xmlns:a16="http://schemas.microsoft.com/office/drawing/2014/main" id="{9BAD2DC6-7315-40F6-B6A4-3DD1F7B84DAD}"/>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35636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C262-380F-F317-8211-3776EE5E4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Content Placeholder 2">
            <a:extLst>
              <a:ext uri="{FF2B5EF4-FFF2-40B4-BE49-F238E27FC236}">
                <a16:creationId xmlns:a16="http://schemas.microsoft.com/office/drawing/2014/main" id="{28EDB357-CB8F-56E3-BE11-57E90591BA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Text Placeholder 3">
            <a:extLst>
              <a:ext uri="{FF2B5EF4-FFF2-40B4-BE49-F238E27FC236}">
                <a16:creationId xmlns:a16="http://schemas.microsoft.com/office/drawing/2014/main" id="{7964655B-759E-6A23-C49F-688B5DC57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4699B3-539B-0C94-15D4-7FF9574687F8}"/>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6" name="Footer Placeholder 5">
            <a:extLst>
              <a:ext uri="{FF2B5EF4-FFF2-40B4-BE49-F238E27FC236}">
                <a16:creationId xmlns:a16="http://schemas.microsoft.com/office/drawing/2014/main" id="{4BC0CA7F-040E-0074-A6EB-B95435912321}"/>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4E81E667-F726-F73A-3636-855220B211F7}"/>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3079313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16A11-30A9-D30E-F2FD-9BF3C76D2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Picture Placeholder 2">
            <a:extLst>
              <a:ext uri="{FF2B5EF4-FFF2-40B4-BE49-F238E27FC236}">
                <a16:creationId xmlns:a16="http://schemas.microsoft.com/office/drawing/2014/main" id="{B49E376C-4EB1-EA6D-4C47-AC7BE924E4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A"/>
          </a:p>
        </p:txBody>
      </p:sp>
      <p:sp>
        <p:nvSpPr>
          <p:cNvPr id="4" name="Text Placeholder 3">
            <a:extLst>
              <a:ext uri="{FF2B5EF4-FFF2-40B4-BE49-F238E27FC236}">
                <a16:creationId xmlns:a16="http://schemas.microsoft.com/office/drawing/2014/main" id="{F7136556-32AB-9242-F43E-A2A754658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2AD94-779F-7437-9FF3-6AC2A60C5F71}"/>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6" name="Footer Placeholder 5">
            <a:extLst>
              <a:ext uri="{FF2B5EF4-FFF2-40B4-BE49-F238E27FC236}">
                <a16:creationId xmlns:a16="http://schemas.microsoft.com/office/drawing/2014/main" id="{DE9315A0-33FE-F521-45E0-1937BB49A565}"/>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B229C8E9-7274-3A8C-2BC7-1A1FAB602CB9}"/>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753987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4919-C418-464A-6DC8-91712F97F529}"/>
              </a:ext>
            </a:extLst>
          </p:cNvPr>
          <p:cNvSpPr>
            <a:spLocks noGrp="1"/>
          </p:cNvSpPr>
          <p:nvPr>
            <p:ph type="title"/>
          </p:nvPr>
        </p:nvSpPr>
        <p:spPr/>
        <p:txBody>
          <a:bodyPr/>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1B2FF419-0B82-778B-CCD7-8BBA6AD89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FC994307-56CD-1AE6-64BF-35F93EDA0E83}"/>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5" name="Footer Placeholder 4">
            <a:extLst>
              <a:ext uri="{FF2B5EF4-FFF2-40B4-BE49-F238E27FC236}">
                <a16:creationId xmlns:a16="http://schemas.microsoft.com/office/drawing/2014/main" id="{F0ED42F2-DF6C-515E-7D7F-989BDACF803A}"/>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08618A75-0176-3FB5-5E74-0A899A5B9A34}"/>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423835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1C3C9E-4554-8455-B064-B3E496A466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7CDBDA4C-25B9-0BC2-5D31-EA5475AF07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C9586CCD-F50C-EE5B-3FCD-70381E2CBF96}"/>
              </a:ext>
            </a:extLst>
          </p:cNvPr>
          <p:cNvSpPr>
            <a:spLocks noGrp="1"/>
          </p:cNvSpPr>
          <p:nvPr>
            <p:ph type="dt" sz="half" idx="10"/>
          </p:nvPr>
        </p:nvSpPr>
        <p:spPr/>
        <p:txBody>
          <a:bodyPr/>
          <a:lstStyle/>
          <a:p>
            <a:fld id="{C651EBA5-5D6B-1245-9328-7D2D181FC864}" type="datetimeFigureOut">
              <a:rPr lang="en-MA" smtClean="0"/>
              <a:t>08/07/2026</a:t>
            </a:fld>
            <a:endParaRPr lang="en-MA"/>
          </a:p>
        </p:txBody>
      </p:sp>
      <p:sp>
        <p:nvSpPr>
          <p:cNvPr id="5" name="Footer Placeholder 4">
            <a:extLst>
              <a:ext uri="{FF2B5EF4-FFF2-40B4-BE49-F238E27FC236}">
                <a16:creationId xmlns:a16="http://schemas.microsoft.com/office/drawing/2014/main" id="{8E8A2745-674B-1055-2586-CC10BB679239}"/>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C1D2EB46-0231-BE56-E9E0-4408EA7A48BB}"/>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20546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06353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A5AB594-3664-8E9E-06CB-D3D33937B75C}"/>
              </a:ext>
            </a:extLst>
          </p:cNvPr>
          <p:cNvCxnSpPr/>
          <p:nvPr userDrawn="1"/>
        </p:nvCxnSpPr>
        <p:spPr>
          <a:xfrm>
            <a:off x="336000" y="547474"/>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27E3AE6-1AA2-47C1-4627-E4CAD3494BF7}"/>
              </a:ext>
            </a:extLst>
          </p:cNvPr>
          <p:cNvCxnSpPr/>
          <p:nvPr userDrawn="1"/>
        </p:nvCxnSpPr>
        <p:spPr>
          <a:xfrm>
            <a:off x="336000" y="6315483"/>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140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p:bg>
      <p:bgPr>
        <a:solidFill>
          <a:srgbClr val="F8F6C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2000" y="34769"/>
            <a:ext cx="11520000" cy="539672"/>
          </a:xfrm>
          <a:prstGeom prst="rect">
            <a:avLst/>
          </a:prstGeom>
        </p:spPr>
        <p:txBody>
          <a:bodyPr tIns="0" bIns="0"/>
          <a:lstStyle>
            <a:lvl1pPr algn="ctr">
              <a:lnSpc>
                <a:spcPct val="100000"/>
              </a:lnSpc>
              <a:defRPr sz="3600" baseline="0">
                <a:solidFill>
                  <a:schemeClr val="tx1"/>
                </a:solidFill>
                <a:latin typeface="+mn-lt"/>
              </a:defRPr>
            </a:lvl1pPr>
          </a:lstStyle>
          <a:p>
            <a:r>
              <a:rPr lang="en-US"/>
              <a:t>Click to edit Master title style</a:t>
            </a:r>
            <a:endParaRPr lang="en-GB"/>
          </a:p>
        </p:txBody>
      </p:sp>
      <p:cxnSp>
        <p:nvCxnSpPr>
          <p:cNvPr id="7" name="Straight Connector 6"/>
          <p:cNvCxnSpPr/>
          <p:nvPr userDrawn="1"/>
        </p:nvCxnSpPr>
        <p:spPr>
          <a:xfrm>
            <a:off x="342000" y="673830"/>
            <a:ext cx="11520000" cy="0"/>
          </a:xfrm>
          <a:prstGeom prst="line">
            <a:avLst/>
          </a:prstGeom>
          <a:ln w="19050" cap="rnd">
            <a:solidFill>
              <a:srgbClr val="063532"/>
            </a:solidFill>
          </a:ln>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sz="half" idx="1" hasCustomPrompt="1"/>
          </p:nvPr>
        </p:nvSpPr>
        <p:spPr>
          <a:xfrm>
            <a:off x="198000" y="767566"/>
            <a:ext cx="11665475" cy="5494085"/>
          </a:xfrm>
          <a:prstGeom prst="rect">
            <a:avLst/>
          </a:prstGeom>
        </p:spPr>
        <p:txBody>
          <a:bodyPr tIns="0" bIns="0"/>
          <a:lstStyle>
            <a:lvl1pPr marL="228600" indent="-228600">
              <a:buClr>
                <a:srgbClr val="B40000"/>
              </a:buClr>
              <a:buSzPct val="75000"/>
              <a:buFontTx/>
              <a:buChar char="►"/>
              <a:defRPr sz="3200">
                <a:solidFill>
                  <a:schemeClr val="tx1"/>
                </a:solidFill>
                <a:latin typeface="+mn-lt"/>
              </a:defRPr>
            </a:lvl1pPr>
            <a:lvl2pPr marL="685800" indent="-228600">
              <a:buClr>
                <a:srgbClr val="B40000"/>
              </a:buClr>
              <a:buSzPct val="75000"/>
              <a:buFontTx/>
              <a:buChar char="►"/>
              <a:defRPr sz="2800">
                <a:solidFill>
                  <a:schemeClr val="tx1"/>
                </a:solidFill>
                <a:latin typeface="+mn-lt"/>
              </a:defRPr>
            </a:lvl2pPr>
            <a:lvl3pPr marL="1143000" indent="-228600">
              <a:buClr>
                <a:srgbClr val="B40000"/>
              </a:buClr>
              <a:buSzPct val="75000"/>
              <a:buFontTx/>
              <a:buChar char="►"/>
              <a:defRPr sz="2400">
                <a:solidFill>
                  <a:schemeClr val="tx1"/>
                </a:solidFill>
                <a:latin typeface="+mn-lt"/>
              </a:defRPr>
            </a:lvl3pPr>
            <a:lvl4pPr marL="1600200" indent="-228600">
              <a:buClr>
                <a:srgbClr val="B40000"/>
              </a:buClr>
              <a:buSzPct val="75000"/>
              <a:buFontTx/>
              <a:buChar char="►"/>
              <a:defRPr sz="2000">
                <a:solidFill>
                  <a:schemeClr val="tx1"/>
                </a:solidFill>
                <a:latin typeface="+mn-lt"/>
              </a:defRPr>
            </a:lvl4pPr>
            <a:lvl5pPr marL="2057400" indent="-228600">
              <a:buClr>
                <a:srgbClr val="B40000"/>
              </a:buClr>
              <a:buSzPct val="75000"/>
              <a:buFontTx/>
              <a:buChar char="►"/>
              <a:defRPr sz="200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Slide Number Placeholder 6">
            <a:extLst>
              <a:ext uri="{FF2B5EF4-FFF2-40B4-BE49-F238E27FC236}">
                <a16:creationId xmlns:a16="http://schemas.microsoft.com/office/drawing/2014/main" id="{7C148890-B4AF-876D-F64B-062232F6784C}"/>
              </a:ext>
            </a:extLst>
          </p:cNvPr>
          <p:cNvSpPr txBox="1">
            <a:spLocks/>
          </p:cNvSpPr>
          <p:nvPr userDrawn="1"/>
        </p:nvSpPr>
        <p:spPr>
          <a:xfrm>
            <a:off x="-60665" y="6508278"/>
            <a:ext cx="711200" cy="365125"/>
          </a:xfrm>
        </p:spPr>
        <p:txBody>
          <a:bodyPr/>
          <a:lstStyle>
            <a:defPPr>
              <a:defRPr lang="en-US"/>
            </a:defPPr>
            <a:lvl1pPr marL="0" algn="l" defTabSz="914400" rtl="0" eaLnBrk="1" latinLnBrk="0" hangingPunct="1">
              <a:defRPr sz="1200" kern="1200">
                <a:solidFill>
                  <a:schemeClr val="tx1"/>
                </a:solidFill>
                <a:latin typeface="Optim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DC1522-342F-47E4-9CF7-D7732B4FB87D}" type="slidenum">
              <a:rPr lang="en-GB" sz="1200" b="0" smtClean="0">
                <a:solidFill>
                  <a:srgbClr val="F8F6CA"/>
                </a:solidFill>
                <a:latin typeface="+mn-lt"/>
              </a:rPr>
              <a:pPr algn="ctr"/>
              <a:t>‹#›</a:t>
            </a:fld>
            <a:endParaRPr lang="en-GB" sz="1400" b="0">
              <a:solidFill>
                <a:srgbClr val="F8F6CA"/>
              </a:solidFill>
              <a:latin typeface="+mn-lt"/>
            </a:endParaRPr>
          </a:p>
        </p:txBody>
      </p:sp>
    </p:spTree>
    <p:extLst>
      <p:ext uri="{BB962C8B-B14F-4D97-AF65-F5344CB8AC3E}">
        <p14:creationId xmlns:p14="http://schemas.microsoft.com/office/powerpoint/2010/main" val="2093151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0956A3-0AA8-F8F8-359E-2571674A6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A"/>
          </a:p>
        </p:txBody>
      </p:sp>
      <p:sp>
        <p:nvSpPr>
          <p:cNvPr id="3" name="Text Placeholder 2">
            <a:extLst>
              <a:ext uri="{FF2B5EF4-FFF2-40B4-BE49-F238E27FC236}">
                <a16:creationId xmlns:a16="http://schemas.microsoft.com/office/drawing/2014/main" id="{6C815038-AE16-1B22-EE5F-4712C228C9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9656DD1B-8889-988E-B190-9D2B5040BC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51EBA5-5D6B-1245-9328-7D2D181FC864}" type="datetimeFigureOut">
              <a:rPr lang="en-MA" smtClean="0"/>
              <a:t>08/07/2026</a:t>
            </a:fld>
            <a:endParaRPr lang="en-MA"/>
          </a:p>
        </p:txBody>
      </p:sp>
      <p:sp>
        <p:nvSpPr>
          <p:cNvPr id="5" name="Footer Placeholder 4">
            <a:extLst>
              <a:ext uri="{FF2B5EF4-FFF2-40B4-BE49-F238E27FC236}">
                <a16:creationId xmlns:a16="http://schemas.microsoft.com/office/drawing/2014/main" id="{63DA8C46-785A-02C3-0D98-6A3BF2C135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A"/>
          </a:p>
        </p:txBody>
      </p:sp>
      <p:sp>
        <p:nvSpPr>
          <p:cNvPr id="6" name="Slide Number Placeholder 5">
            <a:extLst>
              <a:ext uri="{FF2B5EF4-FFF2-40B4-BE49-F238E27FC236}">
                <a16:creationId xmlns:a16="http://schemas.microsoft.com/office/drawing/2014/main" id="{3AEDE843-7CF0-9F56-D589-15438D02BB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7BBBE9-DD51-4944-B30A-970ADBD11FC7}" type="slidenum">
              <a:rPr lang="en-MA" smtClean="0"/>
              <a:t>‹#›</a:t>
            </a:fld>
            <a:endParaRPr lang="en-MA"/>
          </a:p>
        </p:txBody>
      </p:sp>
    </p:spTree>
    <p:extLst>
      <p:ext uri="{BB962C8B-B14F-4D97-AF65-F5344CB8AC3E}">
        <p14:creationId xmlns:p14="http://schemas.microsoft.com/office/powerpoint/2010/main" val="2575588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353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9B5EE0A-878A-594B-5E78-A954372A4F11}"/>
              </a:ext>
            </a:extLst>
          </p:cNvPr>
          <p:cNvSpPr txBox="1">
            <a:spLocks/>
          </p:cNvSpPr>
          <p:nvPr/>
        </p:nvSpPr>
        <p:spPr>
          <a:xfrm>
            <a:off x="1066800" y="2722898"/>
            <a:ext cx="10058400" cy="1406520"/>
          </a:xfrm>
          <a:prstGeom prst="rect">
            <a:avLst/>
          </a:prstGeom>
          <a:noFill/>
        </p:spPr>
        <p:txBody>
          <a:bodyPr anchor="b">
            <a:normAutofit fontScale="92500" lnSpcReduction="20000"/>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US" b="1" dirty="0">
                <a:solidFill>
                  <a:schemeClr val="accent1"/>
                </a:solidFill>
              </a:rPr>
              <a:t>Credit Card Fraud Detection Using Machine Learning</a:t>
            </a:r>
            <a:endParaRPr lang="en-IN" b="1" dirty="0">
              <a:solidFill>
                <a:schemeClr val="accent1"/>
              </a:solidFill>
            </a:endParaRPr>
          </a:p>
        </p:txBody>
      </p:sp>
      <p:sp>
        <p:nvSpPr>
          <p:cNvPr id="8" name="Title 1">
            <a:extLst>
              <a:ext uri="{FF2B5EF4-FFF2-40B4-BE49-F238E27FC236}">
                <a16:creationId xmlns:a16="http://schemas.microsoft.com/office/drawing/2014/main" id="{192D4E25-4A15-F302-45AF-52408EC6981E}"/>
              </a:ext>
            </a:extLst>
          </p:cNvPr>
          <p:cNvSpPr txBox="1">
            <a:spLocks/>
          </p:cNvSpPr>
          <p:nvPr/>
        </p:nvSpPr>
        <p:spPr>
          <a:xfrm>
            <a:off x="206755" y="4967897"/>
            <a:ext cx="4181237" cy="1073497"/>
          </a:xfrm>
          <a:prstGeom prst="rect">
            <a:avLst/>
          </a:prstGeom>
          <a:noFill/>
        </p:spPr>
        <p:txBody>
          <a:bodyPr lIns="91440" tIns="45720" rIns="91440" bIns="45720"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nSpc>
                <a:spcPct val="100000"/>
              </a:lnSpc>
            </a:pPr>
            <a:r>
              <a:rPr lang="en-GB" sz="3200" dirty="0">
                <a:solidFill>
                  <a:srgbClr val="F8F6CA"/>
                </a:solidFill>
                <a:latin typeface="+mn-lt"/>
              </a:rPr>
              <a:t>Student Name:  </a:t>
            </a:r>
          </a:p>
          <a:p>
            <a:pPr>
              <a:lnSpc>
                <a:spcPct val="100000"/>
              </a:lnSpc>
            </a:pPr>
            <a:r>
              <a:rPr lang="en-GB" sz="3200" dirty="0">
                <a:solidFill>
                  <a:srgbClr val="F8F6CA"/>
                </a:solidFill>
                <a:latin typeface="+mn-lt"/>
              </a:rPr>
              <a:t>Date: </a:t>
            </a:r>
          </a:p>
        </p:txBody>
      </p:sp>
      <p:sp>
        <p:nvSpPr>
          <p:cNvPr id="2" name="Title 1">
            <a:extLst>
              <a:ext uri="{FF2B5EF4-FFF2-40B4-BE49-F238E27FC236}">
                <a16:creationId xmlns:a16="http://schemas.microsoft.com/office/drawing/2014/main" id="{F2B3F4AD-9839-C0C0-D927-EEEF3AD674CB}"/>
              </a:ext>
            </a:extLst>
          </p:cNvPr>
          <p:cNvSpPr txBox="1">
            <a:spLocks/>
          </p:cNvSpPr>
          <p:nvPr/>
        </p:nvSpPr>
        <p:spPr>
          <a:xfrm>
            <a:off x="1076546" y="757928"/>
            <a:ext cx="10058400" cy="1710564"/>
          </a:xfrm>
          <a:prstGeom prst="rect">
            <a:avLst/>
          </a:prstGeom>
          <a:noFill/>
        </p:spPr>
        <p:txBody>
          <a:bodyPr lIns="91440" tIns="45720" rIns="91440" bIns="45720"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GB" sz="4800" b="1" dirty="0">
                <a:solidFill>
                  <a:srgbClr val="00C487"/>
                </a:solidFill>
              </a:rPr>
              <a:t>MSc Project </a:t>
            </a:r>
          </a:p>
          <a:p>
            <a:pPr algn="ctr">
              <a:lnSpc>
                <a:spcPct val="100000"/>
              </a:lnSpc>
            </a:pPr>
            <a:r>
              <a:rPr lang="en-GB" sz="2200" dirty="0">
                <a:solidFill>
                  <a:srgbClr val="00C487"/>
                </a:solidFill>
                <a:latin typeface="+mn-lt"/>
              </a:rPr>
              <a:t>(CMP060L050H) </a:t>
            </a:r>
            <a:endParaRPr lang="en-GB" b="1" dirty="0">
              <a:solidFill>
                <a:srgbClr val="FFFFFF"/>
              </a:solidFill>
              <a:latin typeface="Calibri Light" panose="020F0302020204030204"/>
              <a:cs typeface="Calibri Light" panose="020F0302020204030204"/>
            </a:endParaRPr>
          </a:p>
          <a:p>
            <a:pPr algn="ctr">
              <a:lnSpc>
                <a:spcPct val="100000"/>
              </a:lnSpc>
            </a:pPr>
            <a:r>
              <a:rPr lang="en-GB" sz="3200" dirty="0">
                <a:solidFill>
                  <a:srgbClr val="F8F6CA"/>
                </a:solidFill>
                <a:latin typeface="+mn-lt"/>
              </a:rPr>
              <a:t>Viva Presentation </a:t>
            </a:r>
          </a:p>
        </p:txBody>
      </p:sp>
      <p:sp>
        <p:nvSpPr>
          <p:cNvPr id="4" name="Title 1">
            <a:extLst>
              <a:ext uri="{FF2B5EF4-FFF2-40B4-BE49-F238E27FC236}">
                <a16:creationId xmlns:a16="http://schemas.microsoft.com/office/drawing/2014/main" id="{4060847A-EE14-C513-3261-90AEF6F8B76E}"/>
              </a:ext>
            </a:extLst>
          </p:cNvPr>
          <p:cNvSpPr txBox="1">
            <a:spLocks/>
          </p:cNvSpPr>
          <p:nvPr/>
        </p:nvSpPr>
        <p:spPr>
          <a:xfrm>
            <a:off x="7809822" y="4967897"/>
            <a:ext cx="4181237" cy="1073497"/>
          </a:xfrm>
          <a:prstGeom prst="rect">
            <a:avLst/>
          </a:prstGeom>
          <a:noFill/>
        </p:spPr>
        <p:txBody>
          <a:bodyPr lIns="91440" tIns="45720" rIns="91440" bIns="45720"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nSpc>
                <a:spcPct val="100000"/>
              </a:lnSpc>
            </a:pPr>
            <a:r>
              <a:rPr lang="en-GB" sz="3200">
                <a:solidFill>
                  <a:srgbClr val="F8F6CA"/>
                </a:solidFill>
                <a:latin typeface="+mn-lt"/>
              </a:rPr>
              <a:t>Supervisor</a:t>
            </a:r>
            <a:r>
              <a:rPr lang="en-GB" sz="3200">
                <a:solidFill>
                  <a:srgbClr val="F8F6CA"/>
                </a:solidFill>
                <a:ea typeface="+mj-lt"/>
                <a:cs typeface="+mj-lt"/>
              </a:rPr>
              <a:t>:</a:t>
            </a:r>
            <a:endParaRPr lang="en-GB" sz="3200">
              <a:solidFill>
                <a:srgbClr val="000000"/>
              </a:solidFill>
              <a:ea typeface="+mj-lt"/>
              <a:cs typeface="+mj-lt"/>
            </a:endParaRPr>
          </a:p>
          <a:p>
            <a:pPr>
              <a:lnSpc>
                <a:spcPct val="100000"/>
              </a:lnSpc>
            </a:pPr>
            <a:r>
              <a:rPr lang="en-GB" sz="3200" dirty="0">
                <a:solidFill>
                  <a:srgbClr val="F8F6CA"/>
                </a:solidFill>
                <a:latin typeface="+mn-lt"/>
              </a:rPr>
              <a:t>Second Marker:  </a:t>
            </a:r>
            <a:endParaRPr lang="en-GB" dirty="0">
              <a:cs typeface="Calibri Light"/>
            </a:endParaRPr>
          </a:p>
        </p:txBody>
      </p:sp>
    </p:spTree>
    <p:extLst>
      <p:ext uri="{BB962C8B-B14F-4D97-AF65-F5344CB8AC3E}">
        <p14:creationId xmlns:p14="http://schemas.microsoft.com/office/powerpoint/2010/main" val="2656287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AE0466-EB13-62C0-652D-3F4C6D7AA6CC}"/>
              </a:ext>
            </a:extLst>
          </p:cNvPr>
          <p:cNvSpPr>
            <a:spLocks noGrp="1"/>
          </p:cNvSpPr>
          <p:nvPr>
            <p:ph type="title"/>
          </p:nvPr>
        </p:nvSpPr>
        <p:spPr/>
        <p:txBody>
          <a:bodyPr>
            <a:normAutofit fontScale="90000"/>
          </a:bodyPr>
          <a:lstStyle/>
          <a:p>
            <a:r>
              <a:rPr lang="en-GB">
                <a:latin typeface="+mn-lt"/>
              </a:rPr>
              <a:t>Outline</a:t>
            </a:r>
          </a:p>
        </p:txBody>
      </p:sp>
      <p:sp>
        <p:nvSpPr>
          <p:cNvPr id="5" name="Content Placeholder 4">
            <a:extLst>
              <a:ext uri="{FF2B5EF4-FFF2-40B4-BE49-F238E27FC236}">
                <a16:creationId xmlns:a16="http://schemas.microsoft.com/office/drawing/2014/main" id="{09A24666-F6F9-55BE-8D5D-805779DFC591}"/>
              </a:ext>
            </a:extLst>
          </p:cNvPr>
          <p:cNvSpPr>
            <a:spLocks noGrp="1"/>
          </p:cNvSpPr>
          <p:nvPr>
            <p:ph sz="half" idx="1"/>
          </p:nvPr>
        </p:nvSpPr>
        <p:spPr/>
        <p:txBody>
          <a:bodyPr vert="horz" lIns="91440" tIns="0" rIns="91440" bIns="0" rtlCol="0" anchor="t">
            <a:normAutofit/>
          </a:bodyPr>
          <a:lstStyle/>
          <a:p>
            <a:r>
              <a:rPr lang="en-US" dirty="0"/>
              <a:t>Context​</a:t>
            </a:r>
          </a:p>
          <a:p>
            <a:r>
              <a:rPr lang="en-US" dirty="0"/>
              <a:t>Problematic statement​</a:t>
            </a:r>
            <a:endParaRPr lang="en-US" dirty="0">
              <a:cs typeface="Calibri"/>
            </a:endParaRPr>
          </a:p>
          <a:p>
            <a:r>
              <a:rPr lang="en-US" dirty="0"/>
              <a:t>Objectives ​</a:t>
            </a:r>
            <a:endParaRPr lang="en-US" dirty="0">
              <a:cs typeface="Calibri"/>
            </a:endParaRPr>
          </a:p>
          <a:p>
            <a:r>
              <a:rPr lang="en-US" dirty="0"/>
              <a:t>Methodology​</a:t>
            </a:r>
            <a:endParaRPr lang="en-US" dirty="0">
              <a:cs typeface="Calibri"/>
            </a:endParaRPr>
          </a:p>
          <a:p>
            <a:r>
              <a:rPr lang="en-US" dirty="0"/>
              <a:t>Project management​</a:t>
            </a:r>
            <a:endParaRPr lang="en-US" dirty="0">
              <a:cs typeface="Calibri"/>
            </a:endParaRPr>
          </a:p>
          <a:p>
            <a:r>
              <a:rPr lang="en-US" dirty="0"/>
              <a:t>Literature review​</a:t>
            </a:r>
            <a:endParaRPr lang="en-US" dirty="0">
              <a:cs typeface="Calibri"/>
            </a:endParaRPr>
          </a:p>
          <a:p>
            <a:r>
              <a:rPr lang="en-US" dirty="0"/>
              <a:t>Your contributions </a:t>
            </a:r>
            <a:endParaRPr lang="en-US" dirty="0">
              <a:cs typeface="Calibri"/>
            </a:endParaRPr>
          </a:p>
          <a:p>
            <a:r>
              <a:rPr lang="en-US" dirty="0">
                <a:cs typeface="Calibri"/>
              </a:rPr>
              <a:t>Conclusion</a:t>
            </a:r>
            <a:endParaRPr lang="en-US">
              <a:cs typeface="Calibri"/>
            </a:endParaRPr>
          </a:p>
        </p:txBody>
      </p:sp>
    </p:spTree>
    <p:extLst>
      <p:ext uri="{BB962C8B-B14F-4D97-AF65-F5344CB8AC3E}">
        <p14:creationId xmlns:p14="http://schemas.microsoft.com/office/powerpoint/2010/main" val="326690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022A-DE3A-DDB6-DA5E-1C431E0059D9}"/>
              </a:ext>
            </a:extLst>
          </p:cNvPr>
          <p:cNvSpPr>
            <a:spLocks noGrp="1"/>
          </p:cNvSpPr>
          <p:nvPr>
            <p:ph type="title"/>
          </p:nvPr>
        </p:nvSpPr>
        <p:spPr/>
        <p:txBody>
          <a:bodyPr>
            <a:normAutofit fontScale="90000"/>
          </a:bodyPr>
          <a:lstStyle/>
          <a:p>
            <a:r>
              <a:rPr lang="en-GB" b="1" dirty="0">
                <a:latin typeface="+mn-lt"/>
              </a:rPr>
              <a:t>Context</a:t>
            </a:r>
          </a:p>
        </p:txBody>
      </p:sp>
      <p:sp>
        <p:nvSpPr>
          <p:cNvPr id="4" name="Content Placeholder 3">
            <a:extLst>
              <a:ext uri="{FF2B5EF4-FFF2-40B4-BE49-F238E27FC236}">
                <a16:creationId xmlns:a16="http://schemas.microsoft.com/office/drawing/2014/main" id="{DB3C37E4-1F85-E1DF-6618-448C08528F39}"/>
              </a:ext>
            </a:extLst>
          </p:cNvPr>
          <p:cNvSpPr>
            <a:spLocks noGrp="1"/>
          </p:cNvSpPr>
          <p:nvPr>
            <p:ph sz="half" idx="1"/>
          </p:nvPr>
        </p:nvSpPr>
        <p:spPr>
          <a:xfrm>
            <a:off x="198001" y="767566"/>
            <a:ext cx="11207936" cy="5494085"/>
          </a:xfrm>
        </p:spPr>
        <p:txBody>
          <a:bodyPr vert="horz" lIns="91440" tIns="0" rIns="91440" bIns="0" rtlCol="0" anchor="t">
            <a:normAutofit/>
          </a:bodyPr>
          <a:lstStyle/>
          <a:p>
            <a:pPr lvl="0"/>
            <a:r>
              <a:rPr lang="en-US" dirty="0"/>
              <a:t>Rapid growth of online and contactless card payments.</a:t>
            </a:r>
            <a:endParaRPr lang="en-IN" sz="2800" dirty="0"/>
          </a:p>
          <a:p>
            <a:pPr lvl="0"/>
            <a:r>
              <a:rPr lang="en-US" dirty="0"/>
              <a:t>Large transaction volumes require automated monitoring.</a:t>
            </a:r>
            <a:endParaRPr lang="en-IN" sz="2800" dirty="0"/>
          </a:p>
          <a:p>
            <a:pPr lvl="0"/>
            <a:r>
              <a:rPr lang="en-US" dirty="0"/>
              <a:t>Fraud </a:t>
            </a:r>
            <a:r>
              <a:rPr lang="en-US" dirty="0" err="1"/>
              <a:t>behaviour</a:t>
            </a:r>
            <a:r>
              <a:rPr lang="en-US" dirty="0"/>
              <a:t> changes across time and digital channels [1].</a:t>
            </a:r>
            <a:endParaRPr lang="en-IN" sz="2800" dirty="0"/>
          </a:p>
          <a:p>
            <a:pPr lvl="0"/>
            <a:r>
              <a:rPr lang="en-US" dirty="0"/>
              <a:t>Machine learning can learn patterns from historical transactions [1].</a:t>
            </a:r>
            <a:endParaRPr lang="en-IN" sz="2800" dirty="0"/>
          </a:p>
          <a:p>
            <a:pPr lvl="1">
              <a:buFont typeface="Courier New"/>
              <a:buChar char="o"/>
            </a:pPr>
            <a:endParaRPr lang="en-US" dirty="0">
              <a:cs typeface="Calibri"/>
            </a:endParaRPr>
          </a:p>
        </p:txBody>
      </p:sp>
      <p:sp>
        <p:nvSpPr>
          <p:cNvPr id="3"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53338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6E8E-A0A7-36BB-F744-A2727B317ECB}"/>
              </a:ext>
            </a:extLst>
          </p:cNvPr>
          <p:cNvSpPr>
            <a:spLocks noGrp="1"/>
          </p:cNvSpPr>
          <p:nvPr>
            <p:ph type="title"/>
          </p:nvPr>
        </p:nvSpPr>
        <p:spPr/>
        <p:txBody>
          <a:bodyPr>
            <a:normAutofit fontScale="90000"/>
          </a:bodyPr>
          <a:lstStyle/>
          <a:p>
            <a:r>
              <a:rPr lang="en-GB"/>
              <a:t>Problem Statement - WHY</a:t>
            </a:r>
          </a:p>
        </p:txBody>
      </p:sp>
      <p:sp>
        <p:nvSpPr>
          <p:cNvPr id="3" name="Content Placeholder 2">
            <a:extLst>
              <a:ext uri="{FF2B5EF4-FFF2-40B4-BE49-F238E27FC236}">
                <a16:creationId xmlns:a16="http://schemas.microsoft.com/office/drawing/2014/main" id="{9C671AC4-D5A7-520C-D43D-40151EE7E5A5}"/>
              </a:ext>
            </a:extLst>
          </p:cNvPr>
          <p:cNvSpPr>
            <a:spLocks noGrp="1"/>
          </p:cNvSpPr>
          <p:nvPr>
            <p:ph sz="half" idx="1"/>
          </p:nvPr>
        </p:nvSpPr>
        <p:spPr>
          <a:xfrm>
            <a:off x="198000" y="767566"/>
            <a:ext cx="11400441" cy="5494085"/>
          </a:xfrm>
        </p:spPr>
        <p:txBody>
          <a:bodyPr vert="horz" lIns="91440" tIns="0" rIns="91440" bIns="0" rtlCol="0" anchor="t">
            <a:normAutofit/>
          </a:bodyPr>
          <a:lstStyle/>
          <a:p>
            <a:pPr lvl="0"/>
            <a:r>
              <a:rPr lang="en-US" b="1" dirty="0"/>
              <a:t>Problem:</a:t>
            </a:r>
            <a:r>
              <a:rPr lang="en-US" dirty="0"/>
              <a:t> Lack of reliable detection for rare and changing fraud patterns [2].</a:t>
            </a:r>
            <a:endParaRPr lang="en-IN" dirty="0"/>
          </a:p>
          <a:p>
            <a:pPr lvl="0"/>
            <a:r>
              <a:rPr lang="en-US" b="1" dirty="0"/>
              <a:t>Affected:</a:t>
            </a:r>
            <a:r>
              <a:rPr lang="en-US" dirty="0"/>
              <a:t> banks, payment providers, merchants and cardholders.</a:t>
            </a:r>
            <a:endParaRPr lang="en-IN" dirty="0"/>
          </a:p>
          <a:p>
            <a:pPr lvl="0"/>
            <a:r>
              <a:rPr lang="en-US" b="1" dirty="0"/>
              <a:t>Where/when:</a:t>
            </a:r>
            <a:r>
              <a:rPr lang="en-US" dirty="0"/>
              <a:t> online, contactless and other real-time card transactions.</a:t>
            </a:r>
            <a:endParaRPr lang="en-IN" dirty="0"/>
          </a:p>
          <a:p>
            <a:pPr lvl="0"/>
            <a:r>
              <a:rPr lang="en-US" dirty="0"/>
              <a:t>Manual investigation is time-consuming and creates high cost.</a:t>
            </a:r>
            <a:endParaRPr lang="en-IN" dirty="0"/>
          </a:p>
          <a:p>
            <a:pPr lvl="0"/>
            <a:r>
              <a:rPr lang="en-US" dirty="0"/>
              <a:t>However, high accuracy can still hide missed fraudulent transactions [2].</a:t>
            </a:r>
            <a:endParaRPr lang="en-IN" dirty="0"/>
          </a:p>
          <a:p>
            <a:pPr lvl="0"/>
            <a:r>
              <a:rPr lang="en-US" b="1" dirty="0"/>
              <a:t>Importance:</a:t>
            </a:r>
            <a:r>
              <a:rPr lang="en-US" dirty="0"/>
              <a:t> earlier detection can reduce loss, disruption and customer harm.</a:t>
            </a:r>
            <a:endParaRPr lang="en-IN" dirty="0"/>
          </a:p>
          <a:p>
            <a:pPr marL="0" indent="0">
              <a:buNone/>
            </a:pPr>
            <a:endParaRPr lang="en-GB" dirty="0">
              <a:solidFill>
                <a:srgbClr val="FF0000"/>
              </a:solidFill>
              <a:ea typeface="Calibri" panose="020F0502020204030204"/>
              <a:cs typeface="Calibri" panose="020F0502020204030204"/>
            </a:endParaRPr>
          </a:p>
        </p:txBody>
      </p:sp>
    </p:spTree>
    <p:extLst>
      <p:ext uri="{BB962C8B-B14F-4D97-AF65-F5344CB8AC3E}">
        <p14:creationId xmlns:p14="http://schemas.microsoft.com/office/powerpoint/2010/main" val="1096708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022A-DE3A-DDB6-DA5E-1C431E0059D9}"/>
              </a:ext>
            </a:extLst>
          </p:cNvPr>
          <p:cNvSpPr>
            <a:spLocks noGrp="1"/>
          </p:cNvSpPr>
          <p:nvPr>
            <p:ph type="title"/>
          </p:nvPr>
        </p:nvSpPr>
        <p:spPr/>
        <p:txBody>
          <a:bodyPr>
            <a:normAutofit/>
          </a:bodyPr>
          <a:lstStyle/>
          <a:p>
            <a:pPr>
              <a:lnSpc>
                <a:spcPct val="90000"/>
              </a:lnSpc>
              <a:spcBef>
                <a:spcPts val="1000"/>
              </a:spcBef>
            </a:pPr>
            <a:r>
              <a:rPr lang="en-GB">
                <a:latin typeface="Arial"/>
                <a:cs typeface="Arial"/>
              </a:rPr>
              <a:t>Objective - WHAT</a:t>
            </a:r>
            <a:endParaRPr lang="en-US">
              <a:latin typeface="Arial"/>
              <a:cs typeface="Arial"/>
            </a:endParaRPr>
          </a:p>
        </p:txBody>
      </p:sp>
      <p:sp>
        <p:nvSpPr>
          <p:cNvPr id="3" name="Content Placeholder 2">
            <a:extLst>
              <a:ext uri="{FF2B5EF4-FFF2-40B4-BE49-F238E27FC236}">
                <a16:creationId xmlns:a16="http://schemas.microsoft.com/office/drawing/2014/main" id="{0BC9A7BC-4FAF-68F0-47CA-4CAD17B43F3C}"/>
              </a:ext>
            </a:extLst>
          </p:cNvPr>
          <p:cNvSpPr>
            <a:spLocks noGrp="1"/>
          </p:cNvSpPr>
          <p:nvPr>
            <p:ph sz="half" idx="1"/>
          </p:nvPr>
        </p:nvSpPr>
        <p:spPr/>
        <p:txBody>
          <a:bodyPr vert="horz" lIns="91440" tIns="0" rIns="91440" bIns="0" rtlCol="0" anchor="t">
            <a:normAutofit/>
          </a:bodyPr>
          <a:lstStyle/>
          <a:p>
            <a:pPr lvl="0"/>
            <a:r>
              <a:rPr lang="en-US" dirty="0"/>
              <a:t>To understand and clean the credit card transaction dataset.</a:t>
            </a:r>
            <a:endParaRPr lang="en-IN" sz="2800" dirty="0"/>
          </a:p>
          <a:p>
            <a:pPr lvl="0"/>
            <a:r>
              <a:rPr lang="en-US" dirty="0"/>
              <a:t>To explore fraud patterns through data visualization.</a:t>
            </a:r>
            <a:endParaRPr lang="en-IN" sz="2800" dirty="0"/>
          </a:p>
          <a:p>
            <a:pPr lvl="0"/>
            <a:r>
              <a:rPr lang="en-US" dirty="0"/>
              <a:t>To select relevant predictive variables.</a:t>
            </a:r>
            <a:endParaRPr lang="en-IN" sz="2800" dirty="0"/>
          </a:p>
          <a:p>
            <a:pPr lvl="0"/>
            <a:r>
              <a:rPr lang="en-US" dirty="0"/>
              <a:t>To prepare an imbalanced dataset for modeling.</a:t>
            </a:r>
            <a:endParaRPr lang="en-IN" sz="2800" dirty="0"/>
          </a:p>
          <a:p>
            <a:pPr lvl="0"/>
            <a:r>
              <a:rPr lang="en-US" dirty="0"/>
              <a:t>To train five supervised machine-learning algorithms.</a:t>
            </a:r>
            <a:endParaRPr lang="en-IN" sz="2800" dirty="0"/>
          </a:p>
          <a:p>
            <a:pPr lvl="0"/>
            <a:r>
              <a:rPr lang="en-US" dirty="0"/>
              <a:t>To compare performance using multiple evaluation measures.</a:t>
            </a:r>
            <a:endParaRPr lang="en-IN" sz="2800" dirty="0"/>
          </a:p>
          <a:p>
            <a:pPr lvl="0"/>
            <a:r>
              <a:rPr lang="en-US" dirty="0"/>
              <a:t>To identify the most suitable model for this dataset.</a:t>
            </a:r>
            <a:endParaRPr lang="en-IN" sz="2800" dirty="0"/>
          </a:p>
          <a:p>
            <a:pPr marL="457200" lvl="1" indent="0" algn="just">
              <a:buNone/>
            </a:pPr>
            <a:endParaRPr lang="en-US" sz="2700" dirty="0">
              <a:ea typeface="+mn-lt"/>
              <a:cs typeface="+mn-lt"/>
            </a:endParaRPr>
          </a:p>
        </p:txBody>
      </p:sp>
    </p:spTree>
    <p:extLst>
      <p:ext uri="{BB962C8B-B14F-4D97-AF65-F5344CB8AC3E}">
        <p14:creationId xmlns:p14="http://schemas.microsoft.com/office/powerpoint/2010/main" val="2292530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x-none"/>
              <a:t>Methodology - HOW</a:t>
            </a:r>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a:xfrm>
            <a:off x="198000" y="767566"/>
            <a:ext cx="6568559" cy="5494085"/>
          </a:xfrm>
        </p:spPr>
        <p:txBody>
          <a:bodyPr vert="horz" lIns="91440" tIns="0" rIns="91440" bIns="0" rtlCol="0" anchor="t">
            <a:normAutofit fontScale="70000" lnSpcReduction="20000"/>
          </a:bodyPr>
          <a:lstStyle/>
          <a:p>
            <a:pPr lvl="0"/>
            <a:r>
              <a:rPr lang="en-IN" b="1" dirty="0"/>
              <a:t>Data Collection &amp; Preprocessing</a:t>
            </a:r>
            <a:r>
              <a:rPr lang="en-IN" dirty="0"/>
              <a:t> – Use the Kaggle credit card transaction dataset, handle missing values, remove duplicates, scale features, and apply SMOTE to balance fraud and non-fraud classes. </a:t>
            </a:r>
          </a:p>
          <a:p>
            <a:pPr lvl="0"/>
            <a:r>
              <a:rPr lang="en-IN" b="1" dirty="0"/>
              <a:t>Model Development</a:t>
            </a:r>
            <a:r>
              <a:rPr lang="en-IN" dirty="0"/>
              <a:t> – Train and compare Logistic Regression, Decision Tree, Random Forest, Support Vector Machine (SVM), and </a:t>
            </a:r>
            <a:r>
              <a:rPr lang="en-IN" dirty="0" err="1"/>
              <a:t>XGBoost</a:t>
            </a:r>
            <a:r>
              <a:rPr lang="en-IN" dirty="0"/>
              <a:t> models. </a:t>
            </a:r>
          </a:p>
          <a:p>
            <a:pPr lvl="0"/>
            <a:r>
              <a:rPr lang="en-IN" b="1" dirty="0"/>
              <a:t>Implementation Tools</a:t>
            </a:r>
            <a:r>
              <a:rPr lang="en-IN" dirty="0"/>
              <a:t> – Develop the system using Python in Jupyter Notebook with Pandas, NumPy, Scikit-learn, Matplotlib, Seaborn, and Imbalanced-learn. </a:t>
            </a:r>
          </a:p>
          <a:p>
            <a:pPr lvl="0"/>
            <a:r>
              <a:rPr lang="en-IN" b="1" dirty="0"/>
              <a:t>Model Evaluation</a:t>
            </a:r>
            <a:r>
              <a:rPr lang="en-IN" dirty="0"/>
              <a:t> – Assess performance using Accuracy, Precision, Recall, F1-score, ROC-AUC, and Confusion Matrix. </a:t>
            </a:r>
          </a:p>
          <a:p>
            <a:pPr lvl="0"/>
            <a:r>
              <a:rPr lang="en-IN" b="1" dirty="0"/>
              <a:t>Results &amp; Findings</a:t>
            </a:r>
            <a:r>
              <a:rPr lang="en-IN" dirty="0"/>
              <a:t> – Compare all models and identify the most accurate and reliable algorithm for credit card fraud detection.</a:t>
            </a:r>
          </a:p>
        </p:txBody>
      </p:sp>
      <p:pic>
        <p:nvPicPr>
          <p:cNvPr id="4" name="Picture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3920" y="782320"/>
            <a:ext cx="4317999" cy="5628640"/>
          </a:xfrm>
          <a:prstGeom prst="rect">
            <a:avLst/>
          </a:prstGeom>
          <a:noFill/>
          <a:ln>
            <a:noFill/>
          </a:ln>
        </p:spPr>
      </p:pic>
    </p:spTree>
    <p:extLst>
      <p:ext uri="{BB962C8B-B14F-4D97-AF65-F5344CB8AC3E}">
        <p14:creationId xmlns:p14="http://schemas.microsoft.com/office/powerpoint/2010/main" val="610757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GB"/>
              <a:t>P</a:t>
            </a:r>
            <a:r>
              <a:rPr lang="en-MA"/>
              <a:t>roject </a:t>
            </a:r>
            <a:r>
              <a:rPr lang="en-GB"/>
              <a:t>M</a:t>
            </a:r>
            <a:r>
              <a:rPr lang="en-MA"/>
              <a:t>anagement</a:t>
            </a:r>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a:xfrm>
            <a:off x="198000" y="767566"/>
            <a:ext cx="6058421" cy="5494085"/>
          </a:xfrm>
        </p:spPr>
        <p:txBody>
          <a:bodyPr vert="horz" lIns="91440" tIns="0" rIns="91440" bIns="0" rtlCol="0" anchor="t">
            <a:normAutofit fontScale="92500" lnSpcReduction="10000"/>
          </a:bodyPr>
          <a:lstStyle/>
          <a:p>
            <a:pPr lvl="0"/>
            <a:r>
              <a:rPr lang="en-US" b="1" dirty="0"/>
              <a:t>Completed</a:t>
            </a:r>
            <a:endParaRPr lang="en-IN" sz="2800" dirty="0"/>
          </a:p>
          <a:p>
            <a:pPr lvl="1"/>
            <a:r>
              <a:rPr lang="en-US" dirty="0"/>
              <a:t>Proposal development</a:t>
            </a:r>
            <a:endParaRPr lang="en-IN" sz="2400" dirty="0"/>
          </a:p>
          <a:p>
            <a:pPr lvl="1"/>
            <a:r>
              <a:rPr lang="en-US" dirty="0"/>
              <a:t>Literature review</a:t>
            </a:r>
            <a:endParaRPr lang="en-IN" sz="2400" dirty="0"/>
          </a:p>
          <a:p>
            <a:pPr lvl="1"/>
            <a:r>
              <a:rPr lang="en-US" dirty="0"/>
              <a:t>Dataset selection</a:t>
            </a:r>
            <a:endParaRPr lang="en-IN" sz="2400" dirty="0"/>
          </a:p>
          <a:p>
            <a:pPr lvl="1"/>
            <a:r>
              <a:rPr lang="en-US" dirty="0"/>
              <a:t>Research methodology</a:t>
            </a:r>
            <a:endParaRPr lang="en-IN" sz="2400" dirty="0"/>
          </a:p>
          <a:p>
            <a:pPr lvl="1"/>
            <a:r>
              <a:rPr lang="en-US" dirty="0"/>
              <a:t>Data cleaning and </a:t>
            </a:r>
            <a:r>
              <a:rPr lang="en-US" dirty="0" err="1"/>
              <a:t>visualisation</a:t>
            </a:r>
            <a:endParaRPr lang="en-IN" sz="2400" dirty="0"/>
          </a:p>
          <a:p>
            <a:pPr lvl="0"/>
            <a:r>
              <a:rPr lang="en-US" b="1" dirty="0"/>
              <a:t>Current</a:t>
            </a:r>
            <a:endParaRPr lang="en-IN" sz="2800" dirty="0"/>
          </a:p>
          <a:p>
            <a:pPr lvl="1"/>
            <a:r>
              <a:rPr lang="en-US" dirty="0"/>
              <a:t>Data preprocessing</a:t>
            </a:r>
            <a:endParaRPr lang="en-IN" sz="2400" dirty="0"/>
          </a:p>
          <a:p>
            <a:pPr lvl="1"/>
            <a:r>
              <a:rPr lang="en-US" dirty="0"/>
              <a:t>Model implementation preparation</a:t>
            </a:r>
            <a:endParaRPr lang="en-IN" sz="2400" dirty="0"/>
          </a:p>
          <a:p>
            <a:pPr lvl="0"/>
            <a:r>
              <a:rPr lang="en-US" b="1" dirty="0"/>
              <a:t>Remaining</a:t>
            </a:r>
            <a:endParaRPr lang="en-IN" sz="2800" dirty="0"/>
          </a:p>
          <a:p>
            <a:pPr lvl="1"/>
            <a:r>
              <a:rPr lang="en-US" dirty="0"/>
              <a:t>Model training and evaluation</a:t>
            </a:r>
            <a:endParaRPr lang="en-IN" sz="2400" dirty="0"/>
          </a:p>
          <a:p>
            <a:pPr lvl="1"/>
            <a:r>
              <a:rPr lang="en-US" dirty="0"/>
              <a:t>Results analysis</a:t>
            </a:r>
            <a:endParaRPr lang="en-IN" sz="2400" dirty="0"/>
          </a:p>
          <a:p>
            <a:pPr lvl="1"/>
            <a:r>
              <a:rPr lang="en-US" dirty="0"/>
              <a:t>Dissertation writing and final submission</a:t>
            </a:r>
            <a:endParaRPr lang="en-IN" sz="2400" dirty="0"/>
          </a:p>
          <a:p>
            <a:pPr marL="457200" lvl="1" indent="0" algn="just">
              <a:lnSpc>
                <a:spcPct val="107000"/>
              </a:lnSpc>
              <a:spcAft>
                <a:spcPts val="800"/>
              </a:spcAft>
              <a:buNone/>
            </a:pPr>
            <a:endParaRPr lang="x-none" dirty="0">
              <a:latin typeface="Helvetica" pitchFamily="2" charset="0"/>
            </a:endParaRPr>
          </a:p>
        </p:txBody>
      </p:sp>
      <p:pic>
        <p:nvPicPr>
          <p:cNvPr id="4" name="Picture 3">
            <a:extLst>
              <a:ext uri="{FF2B5EF4-FFF2-40B4-BE49-F238E27FC236}">
                <a16:creationId xmlns:a16="http://schemas.microsoft.com/office/drawing/2014/main" id="{164EDE3B-9B39-8D74-9E38-D34A6D4FEAA6}"/>
              </a:ext>
            </a:extLst>
          </p:cNvPr>
          <p:cNvPicPr/>
          <p:nvPr/>
        </p:nvPicPr>
        <p:blipFill>
          <a:blip r:embed="rId3"/>
          <a:stretch>
            <a:fillRect/>
          </a:stretch>
        </p:blipFill>
        <p:spPr>
          <a:xfrm>
            <a:off x="5935578" y="1263273"/>
            <a:ext cx="6058421" cy="4331454"/>
          </a:xfrm>
          <a:prstGeom prst="rect">
            <a:avLst/>
          </a:prstGeom>
        </p:spPr>
      </p:pic>
    </p:spTree>
    <p:extLst>
      <p:ext uri="{BB962C8B-B14F-4D97-AF65-F5344CB8AC3E}">
        <p14:creationId xmlns:p14="http://schemas.microsoft.com/office/powerpoint/2010/main" val="1942258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GB" dirty="0"/>
              <a:t>L</a:t>
            </a:r>
            <a:r>
              <a:rPr lang="en-MA" dirty="0"/>
              <a:t>iterature </a:t>
            </a:r>
            <a:r>
              <a:rPr lang="en-GB" dirty="0"/>
              <a:t>R</a:t>
            </a:r>
            <a:r>
              <a:rPr lang="en-MA" dirty="0"/>
              <a:t>eview</a:t>
            </a:r>
          </a:p>
        </p:txBody>
      </p:sp>
      <p:pic>
        <p:nvPicPr>
          <p:cNvPr id="4" name="Picture 3">
            <a:extLst>
              <a:ext uri="{FF2B5EF4-FFF2-40B4-BE49-F238E27FC236}">
                <a16:creationId xmlns:a16="http://schemas.microsoft.com/office/drawing/2014/main" id="{A9E0F862-4948-2E84-ABA4-A3865694D7E8}"/>
              </a:ext>
            </a:extLst>
          </p:cNvPr>
          <p:cNvPicPr>
            <a:picLocks noChangeAspect="1"/>
          </p:cNvPicPr>
          <p:nvPr/>
        </p:nvPicPr>
        <p:blipFill>
          <a:blip r:embed="rId3"/>
          <a:stretch>
            <a:fillRect/>
          </a:stretch>
        </p:blipFill>
        <p:spPr>
          <a:xfrm>
            <a:off x="198000" y="774803"/>
            <a:ext cx="11664000" cy="5486848"/>
          </a:xfrm>
          <a:prstGeom prst="rect">
            <a:avLst/>
          </a:prstGeom>
        </p:spPr>
      </p:pic>
    </p:spTree>
    <p:extLst>
      <p:ext uri="{BB962C8B-B14F-4D97-AF65-F5344CB8AC3E}">
        <p14:creationId xmlns:p14="http://schemas.microsoft.com/office/powerpoint/2010/main" val="3944228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GB" dirty="0"/>
              <a:t>Contributions</a:t>
            </a:r>
            <a:endParaRPr lang="en-US" dirty="0"/>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p:txBody>
          <a:bodyPr vert="horz" lIns="91440" tIns="0" rIns="91440" bIns="0" rtlCol="0" anchor="t">
            <a:normAutofit lnSpcReduction="10000"/>
          </a:bodyPr>
          <a:lstStyle/>
          <a:p>
            <a:pPr lvl="0"/>
            <a:r>
              <a:rPr lang="en-IN" dirty="0"/>
              <a:t>Develops an integrated machine learning framework for credit card fraud detection with comprehensive data preprocessing. </a:t>
            </a:r>
          </a:p>
          <a:p>
            <a:pPr lvl="0"/>
            <a:r>
              <a:rPr lang="en-IN" dirty="0"/>
              <a:t>Compares multiple classification algorithms (Logistic Regression, Decision Tree, Random Forest, SVM, and </a:t>
            </a:r>
            <a:r>
              <a:rPr lang="en-IN" dirty="0" err="1"/>
              <a:t>XGBoost</a:t>
            </a:r>
            <a:r>
              <a:rPr lang="en-IN" dirty="0"/>
              <a:t>) under the same experimental conditions. </a:t>
            </a:r>
          </a:p>
          <a:p>
            <a:pPr lvl="0"/>
            <a:r>
              <a:rPr lang="en-IN" dirty="0"/>
              <a:t>Addresses class imbalance using SMOTE to improve fraud detection performance and reduce biased predictions. </a:t>
            </a:r>
          </a:p>
          <a:p>
            <a:pPr lvl="0"/>
            <a:r>
              <a:rPr lang="en-IN" dirty="0"/>
              <a:t>Evaluates models using multiple performance metrics including Accuracy, Precision, Recall, F1-score, ROC-AUC, and Confusion Matrix. </a:t>
            </a:r>
          </a:p>
          <a:p>
            <a:pPr lvl="0"/>
            <a:r>
              <a:rPr lang="en-IN" dirty="0"/>
              <a:t>Identifies the most effective model for accurate, reliable, and scalable credit card fraud detection.</a:t>
            </a:r>
          </a:p>
        </p:txBody>
      </p:sp>
    </p:spTree>
    <p:extLst>
      <p:ext uri="{BB962C8B-B14F-4D97-AF65-F5344CB8AC3E}">
        <p14:creationId xmlns:p14="http://schemas.microsoft.com/office/powerpoint/2010/main" val="2551701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MA"/>
              <a:t>Conclusion</a:t>
            </a:r>
            <a:endParaRPr lang="en-US"/>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p:txBody>
          <a:bodyPr vert="horz" lIns="91440" tIns="0" rIns="91440" bIns="0" rtlCol="0" anchor="t">
            <a:normAutofit/>
          </a:bodyPr>
          <a:lstStyle/>
          <a:p>
            <a:pPr lvl="0"/>
            <a:r>
              <a:rPr lang="en-IN" dirty="0"/>
              <a:t>Successfully developed a machine learning-based credit card fraud detection system. </a:t>
            </a:r>
          </a:p>
          <a:p>
            <a:pPr lvl="0"/>
            <a:r>
              <a:rPr lang="en-IN" dirty="0"/>
              <a:t>Achieved the project objectives by comparing multiple machine learning algorithms and identifying the best-performing model. </a:t>
            </a:r>
          </a:p>
          <a:p>
            <a:pPr lvl="0"/>
            <a:r>
              <a:rPr lang="en-IN" dirty="0"/>
              <a:t>Improved fraud detection performance through effective data preprocessing, feature scaling, and SMOTE for class imbalance. </a:t>
            </a:r>
          </a:p>
          <a:p>
            <a:pPr lvl="0"/>
            <a:r>
              <a:rPr lang="en-IN" dirty="0"/>
              <a:t>Evaluated models comprehensively using Accuracy, Precision, Recall, F1-score, ROC-AUC, and Confusion Matrix. </a:t>
            </a:r>
          </a:p>
          <a:p>
            <a:pPr lvl="0"/>
            <a:r>
              <a:rPr lang="en-IN" dirty="0"/>
              <a:t>Future work includes real-time fraud detection, deep learning models, explainable AI, and larger real-world datasets.</a:t>
            </a:r>
          </a:p>
        </p:txBody>
      </p:sp>
    </p:spTree>
    <p:extLst>
      <p:ext uri="{BB962C8B-B14F-4D97-AF65-F5344CB8AC3E}">
        <p14:creationId xmlns:p14="http://schemas.microsoft.com/office/powerpoint/2010/main" val="3219584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1697C-3629-7216-DB10-DD660899E939}"/>
              </a:ext>
            </a:extLst>
          </p:cNvPr>
          <p:cNvSpPr>
            <a:spLocks noGrp="1"/>
          </p:cNvSpPr>
          <p:nvPr>
            <p:ph type="title"/>
          </p:nvPr>
        </p:nvSpPr>
        <p:spPr/>
        <p:txBody>
          <a:bodyPr>
            <a:normAutofit fontScale="90000"/>
          </a:bodyPr>
          <a:lstStyle/>
          <a:p>
            <a:r>
              <a:rPr lang="en-US" dirty="0" err="1"/>
              <a:t>Refernces</a:t>
            </a:r>
            <a:endParaRPr lang="en-IN" dirty="0"/>
          </a:p>
        </p:txBody>
      </p:sp>
      <p:sp>
        <p:nvSpPr>
          <p:cNvPr id="3" name="Content Placeholder 2">
            <a:extLst>
              <a:ext uri="{FF2B5EF4-FFF2-40B4-BE49-F238E27FC236}">
                <a16:creationId xmlns:a16="http://schemas.microsoft.com/office/drawing/2014/main" id="{6D597C01-2E02-F413-80E9-836456C4A51C}"/>
              </a:ext>
            </a:extLst>
          </p:cNvPr>
          <p:cNvSpPr>
            <a:spLocks noGrp="1"/>
          </p:cNvSpPr>
          <p:nvPr>
            <p:ph sz="half" idx="1"/>
          </p:nvPr>
        </p:nvSpPr>
        <p:spPr/>
        <p:txBody>
          <a:bodyPr>
            <a:normAutofit fontScale="62500" lnSpcReduction="20000"/>
          </a:bodyPr>
          <a:lstStyle/>
          <a:p>
            <a:r>
              <a:rPr lang="en-US" dirty="0"/>
              <a:t>[1] L. Theodorakopoulos, A. Theodoropoulou, A. </a:t>
            </a:r>
            <a:r>
              <a:rPr lang="en-US" dirty="0" err="1"/>
              <a:t>Tsimakis</a:t>
            </a:r>
            <a:r>
              <a:rPr lang="en-US" dirty="0"/>
              <a:t> and C. Halkiopoulos, Big data-driven distributed machine learning for scalable credit card fraud detection using </a:t>
            </a:r>
            <a:r>
              <a:rPr lang="en-US" dirty="0" err="1"/>
              <a:t>PySpark</a:t>
            </a:r>
            <a:r>
              <a:rPr lang="en-US" dirty="0"/>
              <a:t>, </a:t>
            </a:r>
            <a:r>
              <a:rPr lang="en-US" dirty="0" err="1"/>
              <a:t>XGBoost</a:t>
            </a:r>
            <a:r>
              <a:rPr lang="en-US" dirty="0"/>
              <a:t>, and </a:t>
            </a:r>
            <a:r>
              <a:rPr lang="en-US" dirty="0" err="1"/>
              <a:t>CatBoost</a:t>
            </a:r>
            <a:r>
              <a:rPr lang="en-US" dirty="0"/>
              <a:t>, Electronics, vol. 14, no. 9, p. 1754, 2025. </a:t>
            </a:r>
            <a:r>
              <a:rPr lang="en-US" dirty="0" err="1"/>
              <a:t>doi</a:t>
            </a:r>
            <a:r>
              <a:rPr lang="en-US" dirty="0"/>
              <a:t>: 10.3390/electronics14091754.</a:t>
            </a:r>
            <a:endParaRPr lang="en-IN" dirty="0"/>
          </a:p>
          <a:p>
            <a:r>
              <a:rPr lang="en-US" dirty="0"/>
              <a:t>[2] W. Sun, Q. Shen, Y. Gao, Q. Mao, T. Qi and S. Xu, Objective over architecture: Fraud detection under extreme imbalance in bank account opening, Computation, vol. 13, no. 12, p. 290, 2025. </a:t>
            </a:r>
            <a:r>
              <a:rPr lang="en-US" dirty="0" err="1"/>
              <a:t>doi</a:t>
            </a:r>
            <a:r>
              <a:rPr lang="en-US" dirty="0"/>
              <a:t>: 10.3390/computation13120290.</a:t>
            </a:r>
            <a:endParaRPr lang="en-IN" dirty="0"/>
          </a:p>
          <a:p>
            <a:r>
              <a:rPr lang="en-GB" dirty="0"/>
              <a:t>[3]Y. Wu, L. Wang, H. Li and J. Liu, “A Deep Learning Method of Credit Card Fraud Detection Based on Continuous-Coupled Neural Networks,” </a:t>
            </a:r>
            <a:r>
              <a:rPr lang="en-GB" i="1" dirty="0"/>
              <a:t>Mathematics, </a:t>
            </a:r>
            <a:r>
              <a:rPr lang="en-GB" dirty="0"/>
              <a:t>vol. 13, no. 5, p. 819, 2025. </a:t>
            </a:r>
            <a:endParaRPr lang="en-IN" dirty="0"/>
          </a:p>
          <a:p>
            <a:r>
              <a:rPr lang="en-GB" dirty="0"/>
              <a:t>[4] X. Feng and S.-K. Kim, “Statistical Data-Generative Machine Learning-Based Credit Card Fraud Detection Systems,” </a:t>
            </a:r>
            <a:r>
              <a:rPr lang="en-GB" i="1" dirty="0"/>
              <a:t>Mathematics, </a:t>
            </a:r>
            <a:r>
              <a:rPr lang="en-GB" dirty="0"/>
              <a:t>vol. 13, no. 15, p. 2446, 2025. </a:t>
            </a:r>
            <a:endParaRPr lang="en-IN" dirty="0"/>
          </a:p>
          <a:p>
            <a:r>
              <a:rPr lang="en-GB" dirty="0"/>
              <a:t>[5] M. Li and J. Walsh, “</a:t>
            </a:r>
            <a:r>
              <a:rPr lang="en-GB" dirty="0" err="1"/>
              <a:t>FedGAT</a:t>
            </a:r>
            <a:r>
              <a:rPr lang="en-GB" dirty="0"/>
              <a:t>-DCNN: Advanced Credit Card Fraud Detection Using Federated Learning Graph Attention Networks and Dilated Convolutions,” </a:t>
            </a:r>
            <a:r>
              <a:rPr lang="en-GB" i="1" dirty="0"/>
              <a:t>Electronics, </a:t>
            </a:r>
            <a:r>
              <a:rPr lang="en-GB" dirty="0"/>
              <a:t>vol. 13, no. 16, p. 3169, 2024. </a:t>
            </a:r>
            <a:endParaRPr lang="en-IN" dirty="0"/>
          </a:p>
          <a:p>
            <a:r>
              <a:rPr lang="en-GB" dirty="0"/>
              <a:t>[6] J. </a:t>
            </a:r>
            <a:r>
              <a:rPr lang="en-GB" dirty="0" err="1"/>
              <a:t>Adejoh</a:t>
            </a:r>
            <a:r>
              <a:rPr lang="en-GB" dirty="0"/>
              <a:t>, N. </a:t>
            </a:r>
            <a:r>
              <a:rPr lang="en-GB" dirty="0" err="1"/>
              <a:t>Owoh</a:t>
            </a:r>
            <a:r>
              <a:rPr lang="en-GB" dirty="0"/>
              <a:t>, M. </a:t>
            </a:r>
            <a:r>
              <a:rPr lang="en-GB" dirty="0" err="1"/>
              <a:t>Ashawa</a:t>
            </a:r>
            <a:r>
              <a:rPr lang="en-GB" dirty="0"/>
              <a:t>, S. Hosseinzadeh, A. </a:t>
            </a:r>
            <a:r>
              <a:rPr lang="en-GB" dirty="0" err="1"/>
              <a:t>Shahrabi</a:t>
            </a:r>
            <a:r>
              <a:rPr lang="en-GB" dirty="0"/>
              <a:t> and S. Mohamed, “An Adaptive Unsupervised Learning Approach for Credit Card Fraud Detection,” </a:t>
            </a:r>
            <a:r>
              <a:rPr lang="en-GB" i="1" dirty="0"/>
              <a:t>Big Data and Cognitive Computing, </a:t>
            </a:r>
            <a:r>
              <a:rPr lang="en-GB" dirty="0"/>
              <a:t>vol. 9, no. 9, p. 217, 2025. </a:t>
            </a:r>
            <a:endParaRPr lang="en-IN" dirty="0"/>
          </a:p>
          <a:p>
            <a:r>
              <a:rPr lang="en-GB" dirty="0"/>
              <a:t>[7] E. </a:t>
            </a:r>
            <a:r>
              <a:rPr lang="en-GB" dirty="0" err="1"/>
              <a:t>Strelcenia</a:t>
            </a:r>
            <a:r>
              <a:rPr lang="en-GB" dirty="0"/>
              <a:t> and S. </a:t>
            </a:r>
            <a:r>
              <a:rPr lang="en-GB" dirty="0" err="1"/>
              <a:t>Prakoonwit</a:t>
            </a:r>
            <a:r>
              <a:rPr lang="en-GB" dirty="0"/>
              <a:t>, “Improving Classification Performance in Credit Card Fraud Detection by Using New Data Augmentation,” </a:t>
            </a:r>
            <a:r>
              <a:rPr lang="en-GB" i="1" dirty="0"/>
              <a:t>AI, </a:t>
            </a:r>
            <a:r>
              <a:rPr lang="en-GB" dirty="0"/>
              <a:t>vol. 4, no. 1, pp. 172-198, 2023. </a:t>
            </a:r>
            <a:endParaRPr lang="en-IN" dirty="0"/>
          </a:p>
          <a:p>
            <a:r>
              <a:rPr lang="en-GB" dirty="0"/>
              <a:t>[8] S. </a:t>
            </a:r>
            <a:r>
              <a:rPr lang="en-GB" dirty="0" err="1"/>
              <a:t>Thivaios</a:t>
            </a:r>
            <a:r>
              <a:rPr lang="en-GB" dirty="0"/>
              <a:t>, G. Kostopoulos, A. Stefani and S. </a:t>
            </a:r>
            <a:r>
              <a:rPr lang="en-GB" dirty="0" err="1"/>
              <a:t>Kotsiantis</a:t>
            </a:r>
            <a:r>
              <a:rPr lang="en-GB" dirty="0"/>
              <a:t>, “A Survey of Machine Learning and Deep Learning for Financial Fraud Detection: Architectures Data Modalities and Real-World Deployment Challenges,” </a:t>
            </a:r>
            <a:r>
              <a:rPr lang="en-GB" i="1" dirty="0"/>
              <a:t>Algorithms, </a:t>
            </a:r>
            <a:r>
              <a:rPr lang="en-GB" dirty="0"/>
              <a:t>vol. 19, no. 5, p. 354, 2026. </a:t>
            </a:r>
            <a:endParaRPr lang="en-IN" dirty="0"/>
          </a:p>
          <a:p>
            <a:endParaRPr lang="en-IN" dirty="0"/>
          </a:p>
        </p:txBody>
      </p:sp>
    </p:spTree>
    <p:extLst>
      <p:ext uri="{BB962C8B-B14F-4D97-AF65-F5344CB8AC3E}">
        <p14:creationId xmlns:p14="http://schemas.microsoft.com/office/powerpoint/2010/main" val="1959919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1725</Words>
  <Application>Microsoft Office PowerPoint</Application>
  <PresentationFormat>Widescreen</PresentationFormat>
  <Paragraphs>97</Paragraphs>
  <Slides>11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Calibri Light</vt:lpstr>
      <vt:lpstr>Courier New</vt:lpstr>
      <vt:lpstr>Helvetica</vt:lpstr>
      <vt:lpstr>Office Theme</vt:lpstr>
      <vt:lpstr>PowerPoint Presentation</vt:lpstr>
      <vt:lpstr>Outline</vt:lpstr>
      <vt:lpstr>Context</vt:lpstr>
      <vt:lpstr>Problem Statement - WHY</vt:lpstr>
      <vt:lpstr>Objective - WHAT</vt:lpstr>
      <vt:lpstr>Methodology - HOW</vt:lpstr>
      <vt:lpstr>Project Management</vt:lpstr>
      <vt:lpstr>Literature Review</vt:lpstr>
      <vt:lpstr>Contributions</vt:lpstr>
      <vt:lpstr>Conclusion</vt:lpstr>
      <vt:lpstr>Refernces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modified xsi:type="dcterms:W3CDTF">2026-08-07T12:06:41Z</dcterms:modified>
</cp:coreProperties>
</file>